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03" r:id="rId4"/>
    <p:sldId id="304" r:id="rId5"/>
    <p:sldId id="305" r:id="rId6"/>
    <p:sldId id="30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74979-FCC1-476E-8E9D-2B1AF21E9D5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3C2C9-D9EC-4AA7-9818-83206CE93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5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59E1-5B81-16FA-2AC8-FF202960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766F11-F65C-E9D9-8C0F-247F29C0E6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96F9C-2B05-82E2-C2C8-20E34831E5E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7C04F0A-C171-B8B7-6A32-F004DB551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95BCEA5-A10E-4445-99E1-49177A8EC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58CF9-1581-29B1-C31C-FE886924DB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7622E-BCCB-2AA1-9DF9-F9A545972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84538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4A56-153F-372D-0843-EFC78A35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E130BA-D506-4AE3-27C3-7CFB402F7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CD35D-7B83-3109-06BB-05DB15EA2E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3260D30-7405-88F3-F670-7DD892D91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E67751-51D3-A949-2BC9-232F89134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819CD-EBAD-C508-76DF-A94A98CC61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DA2FC-0431-411E-7AF2-16ECB50C7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11920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FE97-61D8-C484-AE75-79AF85A2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B0596-D704-8085-AA73-F0E7B07EA1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224B6-93D7-B269-9074-C0A91CECE0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7F89A6D-5308-908E-B38D-3F282F191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1967AAA-779F-E3A3-37D3-370B27758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A19E2-D88A-F766-F7B8-26DB74BE2F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8E28C-8E3C-148E-651A-54C131FF7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89318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57022-CD50-4556-A6B0-BD938699BE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90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FBDC-268C-54CF-4074-8BC522FBD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FDCDA-251B-DAB5-B373-05E6293AF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0AD0-3945-CD44-A0DB-969A9FD1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0D578-A244-C905-5EC6-6ABEBE91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06F0B-E6C3-C2AC-9D8A-0797A9316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8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5E72-BFBA-C3CE-30CC-A3BC42F82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1FD91-AF71-2BBE-4CFD-70EA6722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74ED8-F933-1B07-6886-C89ABFEF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91F9E-4563-6FD8-9717-D49DEA8F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D1B64-DCE8-21AF-B87B-F1CB605B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2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6964-76B8-8841-5E86-6EC5A5430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FA906-AE8B-CB68-6AA0-5001D609C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5086D-D70B-8987-BD9E-DB86208BF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991ED-E99F-C047-FDDA-82DB99AE7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F2504-DB53-EB7A-B118-CC621484B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6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4773-1138-E5A5-A34E-51979B78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6A7F-534C-E0DF-649B-98A3FCED6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EC2B2-FAD1-E38A-FC3A-FA584B410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0C14E-2C9A-B4F5-B2B4-ACA687F3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E9884-7D20-B602-DC68-3DB69A03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574A5-F100-9963-0F00-ADCF08B5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6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0FFA-31AC-01A5-3FDC-8F74303B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55A0C-D912-E544-624B-921A8EEA3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440FD-515C-BF19-F469-70DB68347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E218D-EE4C-8AD1-12BB-0711F086D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0BED0-6B68-3D71-6952-B738B5300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09BD32-B599-2454-BC99-91109B21B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0631C-A7AE-0371-F5B8-9228073B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B1211-494A-CC71-3849-C31E281A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6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FC6C-2560-9F63-B9CB-2636E198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D3CF59-D0AE-D980-F71A-A6E57A33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06DE90-1B30-3E8F-D02A-261D144B4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3FF36-AB19-AE03-E54D-0FD480861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9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78C04-88AE-AFF7-EAF4-53CC118B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23B7C-0934-B5DC-FCA8-4385E14B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A3B40-C3E5-4394-3BC7-966DFB16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4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DA21-43BA-CC1D-D81D-6EBBEF2CE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2D81A-7372-0334-2C3B-2F8E3AE49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6527C-9E80-8BC5-03A2-5BE51F34C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A3491-4CA6-9D40-6F15-6F8D87BD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1BDB0-0F8D-2FF0-35FF-93E104C7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5171F-4D2B-8CE5-7EB5-63DB177C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8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4A17-7500-69AA-2E27-717B43147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CEA734-433B-2400-1AEA-06BD37C1E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F2CDF-915A-3504-202C-B59A3CA04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A79F9-48E7-5B04-5026-CC791C233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031F9-F7FE-42EB-E902-5DAEDB5C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2EB28-0455-321D-4432-F42B8217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31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DF50-DDA8-596C-7041-BBB05830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8AC25-2955-FD00-2B15-81D8A0B73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6CBE0-AC91-D241-0B60-5AFD375BB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38D9B-E58A-6D6C-B9C1-7F2B2619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7F5AF-4B44-7930-CF36-74AE4FBA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4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31338-8609-14CF-2FDA-262D2A1D8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1D800-5EF9-001F-F340-23BA84AE8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A8166-E39C-028D-6FB5-CEEBB051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2F7A8-F5C8-CA77-93B6-C3D222A43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358BA-CD83-2CB5-7414-74947A91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03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F169D-4B60-D91A-EC32-5DF0168FE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3132C-55B7-9B17-9C27-031711086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B7E50-87D4-90BF-F86F-1C334A210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0471B-3228-45FE-B200-1F13480E38E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D9ECB-E7A1-4DC4-F68F-D81641989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BD5C4-5ED9-6788-095B-269306EA6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4BC62-CC1D-4D2A-B8DD-D925182EC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7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3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 descr="White text on a black background  AI-generated content may be incorrect."/>
          <p:cNvSpPr/>
          <p:nvPr/>
        </p:nvSpPr>
        <p:spPr>
          <a:xfrm>
            <a:off x="444138" y="333337"/>
            <a:ext cx="2253018" cy="642023"/>
          </a:xfrm>
          <a:custGeom>
            <a:avLst/>
            <a:gdLst/>
            <a:ahLst/>
            <a:cxnLst/>
            <a:rect l="l" t="t" r="r" b="b"/>
            <a:pathLst>
              <a:path w="3379527" h="963035">
                <a:moveTo>
                  <a:pt x="0" y="0"/>
                </a:moveTo>
                <a:lnTo>
                  <a:pt x="3379527" y="0"/>
                </a:lnTo>
                <a:lnTo>
                  <a:pt x="3379527" y="963035"/>
                </a:lnTo>
                <a:lnTo>
                  <a:pt x="0" y="963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" b="-5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1672637" y="1123008"/>
            <a:ext cx="9144000" cy="102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ctr">
              <a:lnSpc>
                <a:spcPts val="4128"/>
              </a:lnSpc>
            </a:pPr>
            <a:r>
              <a:rPr lang="vi-VN" sz="3200" b="1" dirty="0">
                <a:solidFill>
                  <a:srgbClr val="FFFFFF"/>
                </a:solidFill>
                <a:latin typeface="+mj-lt"/>
                <a:ea typeface="Bai Jamjuree Bold"/>
                <a:cs typeface="Bai Jamjuree Bold"/>
                <a:sym typeface="Bai Jamjuree Bold"/>
              </a:rPr>
              <a:t>BÁO CÁO BÀI TẬP LỚN MÔN HỆ THỐNG VÀ CÔNG NGHỆ WEB</a:t>
            </a:r>
            <a:endParaRPr lang="en-US" sz="3200" b="1" dirty="0">
              <a:solidFill>
                <a:srgbClr val="FFFFFF"/>
              </a:solidFill>
              <a:latin typeface="+mj-lt"/>
              <a:ea typeface="Bai Jamjuree Bold"/>
              <a:cs typeface="Bai Jamjuree Bold"/>
              <a:sym typeface="Bai Jamjure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85759" y="2890012"/>
            <a:ext cx="9144000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2"/>
              </a:lnSpc>
              <a:spcBef>
                <a:spcPct val="0"/>
              </a:spcBef>
            </a:pP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Nhóm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</a:t>
            </a:r>
            <a:r>
              <a:rPr lang="vi-VN" sz="4400" b="1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3</a:t>
            </a:r>
            <a:endParaRPr lang="vi-VN" sz="4066" b="1">
              <a:solidFill>
                <a:srgbClr val="FFFFFF"/>
              </a:solidFill>
              <a:latin typeface="+mj-lt"/>
              <a:ea typeface="Bai Jamjuree Bold"/>
              <a:cs typeface="Bai Jamjuree Bold"/>
              <a:sym typeface="Bai Jamjuree Bold"/>
            </a:endParaRPr>
          </a:p>
          <a:p>
            <a:pPr algn="ctr">
              <a:lnSpc>
                <a:spcPts val="4392"/>
              </a:lnSpc>
              <a:spcBef>
                <a:spcPct val="0"/>
              </a:spcBef>
            </a:pPr>
            <a:r>
              <a:rPr lang="vi-VN" sz="4066" b="1" dirty="0">
                <a:solidFill>
                  <a:srgbClr val="FFFFFF"/>
                </a:solidFill>
                <a:latin typeface="+mj-lt"/>
                <a:ea typeface="Bai Jamjuree Bold"/>
                <a:cs typeface="Bai Jamjuree Bold"/>
                <a:sym typeface="Bai Jamjuree Bold"/>
              </a:rPr>
              <a:t>ĐỀ TÀI</a:t>
            </a:r>
            <a:r>
              <a:rPr lang="en-US" sz="4066" b="1" dirty="0">
                <a:solidFill>
                  <a:srgbClr val="FFFFFF"/>
                </a:solidFill>
                <a:latin typeface="+mj-lt"/>
                <a:ea typeface="Bai Jamjuree Bold"/>
                <a:cs typeface="Bai Jamjuree Bold"/>
                <a:sym typeface="Bai Jamjuree Bold"/>
              </a:rPr>
              <a:t>: </a:t>
            </a:r>
            <a:r>
              <a:rPr lang="vi-VN" sz="4066" b="1" dirty="0">
                <a:solidFill>
                  <a:srgbClr val="FFFFFF"/>
                </a:solidFill>
                <a:latin typeface="+mj-lt"/>
                <a:ea typeface="Bai Jamjuree Bold"/>
                <a:cs typeface="Bai Jamjuree Bold"/>
                <a:sym typeface="Bai Jamjuree Bold"/>
              </a:rPr>
              <a:t>WEBSITE GIỚI THIỆU, BÁN VĂN PHÒNG PHẨM TRỰC TUYẾN </a:t>
            </a:r>
            <a:endParaRPr lang="en-US" sz="4066" b="1" dirty="0">
              <a:solidFill>
                <a:srgbClr val="FFFFFF"/>
              </a:solidFill>
              <a:latin typeface="+mj-lt"/>
              <a:ea typeface="Bai Jamjuree Bold"/>
              <a:cs typeface="Bai Jamjuree Bold"/>
              <a:sym typeface="Bai Jamjure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85759" y="5525312"/>
            <a:ext cx="9144000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GVHD:</a:t>
            </a:r>
            <a:r>
              <a:rPr lang="vi-VN" sz="32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ThS. PHẠM THANH TÙNG</a:t>
            </a:r>
            <a:endParaRPr lang="en-US" sz="3200" b="1" dirty="0">
              <a:solidFill>
                <a:srgbClr val="FFFFFF"/>
              </a:solidFill>
              <a:latin typeface="Times New Roman" panose="02020603050405020304" pitchFamily="18" charset="0"/>
              <a:ea typeface="Bai Jamjuree Bold"/>
              <a:cs typeface="Times New Roman" panose="02020603050405020304" pitchFamily="18" charset="0"/>
              <a:sym typeface="Bai Jamjure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08642" y="6465978"/>
            <a:ext cx="1012123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Thành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phố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Hồ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Chí Minh,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ngày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</a:t>
            </a:r>
            <a:r>
              <a:rPr lang="vi-V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2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tháng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</a:t>
            </a:r>
            <a:r>
              <a:rPr lang="vi-V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4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năm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 descr="White text on a black background  AI-generated content may be incorrect."/>
          <p:cNvSpPr/>
          <p:nvPr/>
        </p:nvSpPr>
        <p:spPr>
          <a:xfrm>
            <a:off x="444138" y="333337"/>
            <a:ext cx="2253018" cy="642023"/>
          </a:xfrm>
          <a:custGeom>
            <a:avLst/>
            <a:gdLst/>
            <a:ahLst/>
            <a:cxnLst/>
            <a:rect l="l" t="t" r="r" b="b"/>
            <a:pathLst>
              <a:path w="3379527" h="963035">
                <a:moveTo>
                  <a:pt x="0" y="0"/>
                </a:moveTo>
                <a:lnTo>
                  <a:pt x="3379527" y="0"/>
                </a:lnTo>
                <a:lnTo>
                  <a:pt x="3379527" y="963035"/>
                </a:lnTo>
                <a:lnTo>
                  <a:pt x="0" y="963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" b="-5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1524000" y="841629"/>
            <a:ext cx="914400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endParaRPr lang="en-US" sz="3666" b="1" dirty="0">
              <a:solidFill>
                <a:srgbClr val="FFFFFF"/>
              </a:solidFill>
              <a:latin typeface="Times New Roman" panose="02020603050405020304" pitchFamily="18" charset="0"/>
              <a:ea typeface="Bai Jamjuree Bold"/>
              <a:cs typeface="Times New Roman" panose="02020603050405020304" pitchFamily="18" charset="0"/>
              <a:sym typeface="Bai Jamjuree Bold"/>
            </a:endParaRPr>
          </a:p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666" b="1" dirty="0">
                <a:solidFill>
                  <a:srgbClr val="FFFFFF"/>
                </a:solidFill>
                <a:latin typeface="Times New Roman" panose="02020603050405020304" pitchFamily="18" charset="0"/>
                <a:ea typeface="Bai Jamjuree Bold"/>
                <a:cs typeface="Times New Roman" panose="02020603050405020304" pitchFamily="18" charset="0"/>
                <a:sym typeface="Bai Jamjuree Bold"/>
              </a:rPr>
              <a:t>DANH SÁCH THÀNH VIÊN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84B5FB-13B3-D192-9B51-CD57996E3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99501"/>
              </p:ext>
            </p:extLst>
          </p:nvPr>
        </p:nvGraphicFramePr>
        <p:xfrm>
          <a:off x="3135372" y="2565066"/>
          <a:ext cx="5921256" cy="3451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0628">
                  <a:extLst>
                    <a:ext uri="{9D8B030D-6E8A-4147-A177-3AD203B41FA5}">
                      <a16:colId xmlns:a16="http://schemas.microsoft.com/office/drawing/2014/main" val="2751871378"/>
                    </a:ext>
                  </a:extLst>
                </a:gridCol>
                <a:gridCol w="2960628">
                  <a:extLst>
                    <a:ext uri="{9D8B030D-6E8A-4147-A177-3AD203B41FA5}">
                      <a16:colId xmlns:a16="http://schemas.microsoft.com/office/drawing/2014/main" val="2052672392"/>
                    </a:ext>
                  </a:extLst>
                </a:gridCol>
              </a:tblGrid>
              <a:tr h="574175">
                <a:tc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latin typeface="+mj-lt"/>
                        </a:rPr>
                        <a:t>Họ và tên</a:t>
                      </a: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latin typeface="+mj-lt"/>
                        </a:rPr>
                        <a:t>MSSV</a:t>
                      </a: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1102687360"/>
                  </a:ext>
                </a:extLst>
              </a:tr>
              <a:tr h="580430">
                <a:tc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latin typeface="+mj-lt"/>
                        </a:rPr>
                        <a:t>Nguyễn Lê Nhật Ân</a:t>
                      </a: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>
                          <a:latin typeface="+mj-lt"/>
                        </a:rPr>
                        <a:t>2468828</a:t>
                      </a:r>
                      <a:r>
                        <a:rPr lang="en-US" sz="2000">
                          <a:latin typeface="+mj-lt"/>
                        </a:rPr>
                        <a:t>1</a:t>
                      </a:r>
                      <a:endParaRPr lang="vi-VN" sz="2000" dirty="0">
                        <a:latin typeface="+mj-lt"/>
                      </a:endParaRP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989529969"/>
                  </a:ext>
                </a:extLst>
              </a:tr>
              <a:tr h="574175">
                <a:tc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latin typeface="+mj-lt"/>
                        </a:rPr>
                        <a:t>Đào Công Lương</a:t>
                      </a: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24653181</a:t>
                      </a:r>
                      <a:endParaRPr lang="vi-VN" sz="2000" dirty="0">
                        <a:latin typeface="+mj-lt"/>
                      </a:endParaRP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1057817210"/>
                  </a:ext>
                </a:extLst>
              </a:tr>
              <a:tr h="574175">
                <a:tc>
                  <a:txBody>
                    <a:bodyPr/>
                    <a:lstStyle/>
                    <a:p>
                      <a:pPr algn="ctr"/>
                      <a:r>
                        <a:rPr lang="vi-VN" sz="2000" dirty="0">
                          <a:latin typeface="+mj-lt"/>
                        </a:rPr>
                        <a:t>Lê Triệu Vĩ</a:t>
                      </a: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+mj-lt"/>
                        </a:rPr>
                        <a:t>24709771</a:t>
                      </a:r>
                      <a:endParaRPr lang="vi-VN" sz="2000" dirty="0">
                        <a:latin typeface="+mj-lt"/>
                      </a:endParaRP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1882961292"/>
                  </a:ext>
                </a:extLst>
              </a:tr>
              <a:tr h="574175">
                <a:tc>
                  <a:txBody>
                    <a:bodyPr/>
                    <a:lstStyle/>
                    <a:p>
                      <a:pPr algn="ctr"/>
                      <a:r>
                        <a:rPr lang="vi-VN" sz="2000" b="0" i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Trương Gia Phú</a:t>
                      </a:r>
                      <a:endParaRPr lang="vi-VN" sz="2000" dirty="0">
                        <a:latin typeface="+mj-lt"/>
                      </a:endParaRP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24682031</a:t>
                      </a:r>
                      <a:endParaRPr lang="vi-VN" sz="2000" dirty="0">
                        <a:latin typeface="+mj-lt"/>
                      </a:endParaRP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173454021"/>
                  </a:ext>
                </a:extLst>
              </a:tr>
              <a:tr h="574175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Trần Quang Vinh</a:t>
                      </a:r>
                      <a:endParaRPr lang="vi-VN" sz="2000" dirty="0">
                        <a:latin typeface="+mj-lt"/>
                      </a:endParaRPr>
                    </a:p>
                  </a:txBody>
                  <a:tcPr marL="60960" marR="60960" marT="30480" marB="304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24669961</a:t>
                      </a:r>
                      <a:endParaRPr lang="vi-VN" sz="2000" b="0" dirty="0">
                        <a:latin typeface="+mj-lt"/>
                      </a:endParaRPr>
                    </a:p>
                  </a:txBody>
                  <a:tcPr marL="60960" marR="60960" marT="30480" marB="30480"/>
                </a:tc>
                <a:extLst>
                  <a:ext uri="{0D108BD9-81ED-4DB2-BD59-A6C34878D82A}">
                    <a16:rowId xmlns:a16="http://schemas.microsoft.com/office/drawing/2014/main" val="420229619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6645-5283-6934-6837-E1C4CC02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88E2A0-6993-4DE7-FB3A-92D92BD7BA0A}"/>
              </a:ext>
            </a:extLst>
          </p:cNvPr>
          <p:cNvSpPr txBox="1"/>
          <p:nvPr/>
        </p:nvSpPr>
        <p:spPr>
          <a:xfrm>
            <a:off x="507999" y="330200"/>
            <a:ext cx="8155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+mj-lt"/>
              </a:rPr>
              <a:t>1. Lí do chọn đề tài và mục tiêu của đề tài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785FF-9559-6C9E-C3AA-E0986DC88A44}"/>
              </a:ext>
            </a:extLst>
          </p:cNvPr>
          <p:cNvSpPr txBox="1"/>
          <p:nvPr/>
        </p:nvSpPr>
        <p:spPr>
          <a:xfrm>
            <a:off x="1049517" y="1152437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i="1" dirty="0">
                <a:solidFill>
                  <a:srgbClr val="FF0000"/>
                </a:solidFill>
                <a:latin typeface="+mj-lt"/>
              </a:rPr>
              <a:t>1.1 Lí do chọn đề tài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D00B1-6826-E04A-1AE6-808F034AE71D}"/>
              </a:ext>
            </a:extLst>
          </p:cNvPr>
          <p:cNvSpPr txBox="1"/>
          <p:nvPr/>
        </p:nvSpPr>
        <p:spPr>
          <a:xfrm>
            <a:off x="1049517" y="1677096"/>
            <a:ext cx="9753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indent="-304815">
              <a:buFontTx/>
              <a:buChar char="-"/>
            </a:pPr>
            <a:r>
              <a:rPr lang="vi-VN" sz="2800" dirty="0">
                <a:latin typeface="+mj-lt"/>
              </a:rPr>
              <a:t>Xu hướng mua sắm trực tuyến ngày càng phát triển</a:t>
            </a:r>
          </a:p>
          <a:p>
            <a:pPr marL="304815" indent="-304815">
              <a:buFontTx/>
              <a:buChar char="-"/>
            </a:pPr>
            <a:r>
              <a:rPr lang="vi-VN" sz="2800" dirty="0">
                <a:latin typeface="+mj-lt"/>
              </a:rPr>
              <a:t>Nhu cầu sử dụng văn phòng phẩm cao</a:t>
            </a:r>
          </a:p>
          <a:p>
            <a:pPr marL="304815" indent="-304815">
              <a:buFontTx/>
              <a:buChar char="-"/>
            </a:pPr>
            <a:r>
              <a:rPr lang="vi-VN" sz="2800" dirty="0">
                <a:latin typeface="+mj-lt"/>
              </a:rPr>
              <a:t>Website giúp việc mua hàng trở nên tiện lợi hơn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1FFC0-35E3-3C8A-2FA2-00F71757737D}"/>
              </a:ext>
            </a:extLst>
          </p:cNvPr>
          <p:cNvSpPr txBox="1"/>
          <p:nvPr/>
        </p:nvSpPr>
        <p:spPr>
          <a:xfrm>
            <a:off x="1124932" y="3095679"/>
            <a:ext cx="706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i="1" dirty="0">
                <a:solidFill>
                  <a:srgbClr val="FF0000"/>
                </a:solidFill>
                <a:latin typeface="+mj-lt"/>
              </a:rPr>
              <a:t>1.2 Mục tiêu của đề tài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20F02F-4F5E-9DC7-FA96-BFBED28C96E3}"/>
              </a:ext>
            </a:extLst>
          </p:cNvPr>
          <p:cNvSpPr txBox="1"/>
          <p:nvPr/>
        </p:nvSpPr>
        <p:spPr>
          <a:xfrm>
            <a:off x="1124932" y="3734546"/>
            <a:ext cx="8788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Xây dựng được 1 website bán hàng văn phòng phẩm trực tuyến</a:t>
            </a:r>
          </a:p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Áp dụng các kiến thức HTML,CSS, JS để ứng dụng trong dự án thực tế</a:t>
            </a:r>
          </a:p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Tạo giao diện thân thiện, dễ sử dụng cho người dùng</a:t>
            </a:r>
          </a:p>
          <a:p>
            <a:pPr marL="190510" indent="-190510">
              <a:buFontTx/>
              <a:buChar char="-"/>
            </a:pPr>
            <a:endParaRPr lang="vi-VN" sz="2800" dirty="0"/>
          </a:p>
          <a:p>
            <a:pPr marL="190510" indent="-190510">
              <a:buFontTx/>
              <a:buChar char="-"/>
            </a:pP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942410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7EE2-7BCE-A325-1403-1D3A10DA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FA7221-6519-3569-DFD2-214FC63FCAF3}"/>
              </a:ext>
            </a:extLst>
          </p:cNvPr>
          <p:cNvSpPr txBox="1"/>
          <p:nvPr/>
        </p:nvSpPr>
        <p:spPr>
          <a:xfrm>
            <a:off x="508000" y="330200"/>
            <a:ext cx="660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+mj-lt"/>
              </a:rPr>
              <a:t>2. Tổng quan bài toán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8665B-18C4-4E0B-97E0-57DCB20249EE}"/>
              </a:ext>
            </a:extLst>
          </p:cNvPr>
          <p:cNvSpPr txBox="1"/>
          <p:nvPr/>
        </p:nvSpPr>
        <p:spPr>
          <a:xfrm>
            <a:off x="812800" y="1000246"/>
            <a:ext cx="386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i="1" dirty="0">
                <a:solidFill>
                  <a:srgbClr val="FF0000"/>
                </a:solidFill>
                <a:latin typeface="+mj-lt"/>
              </a:rPr>
              <a:t>2.1 Chức năng chính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75A21-CC22-3A00-4284-574874ABFE34}"/>
              </a:ext>
            </a:extLst>
          </p:cNvPr>
          <p:cNvSpPr txBox="1"/>
          <p:nvPr/>
        </p:nvSpPr>
        <p:spPr>
          <a:xfrm>
            <a:off x="1016000" y="1556271"/>
            <a:ext cx="5892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Xem danh sách sản phẩm </a:t>
            </a:r>
          </a:p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Thêm sản phẩm vào giỏ hàng </a:t>
            </a:r>
          </a:p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Đặt hàng trực tuyến</a:t>
            </a:r>
          </a:p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Thanh toán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35A54-9214-614D-4FB1-7942DAAD8A81}"/>
              </a:ext>
            </a:extLst>
          </p:cNvPr>
          <p:cNvSpPr txBox="1"/>
          <p:nvPr/>
        </p:nvSpPr>
        <p:spPr>
          <a:xfrm>
            <a:off x="812800" y="3429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i="1" dirty="0">
                <a:solidFill>
                  <a:srgbClr val="FF0000"/>
                </a:solidFill>
                <a:latin typeface="+mj-lt"/>
              </a:rPr>
              <a:t>2.2 Ứng dụng thực tế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AA37B-9BCD-09BB-61A2-F365210FFD47}"/>
              </a:ext>
            </a:extLst>
          </p:cNvPr>
          <p:cNvSpPr txBox="1"/>
          <p:nvPr/>
        </p:nvSpPr>
        <p:spPr>
          <a:xfrm>
            <a:off x="1016000" y="4065915"/>
            <a:ext cx="609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Áp dụng cho các cửa hàng văn phòng phẩm nhỏ</a:t>
            </a:r>
          </a:p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Hỗ trợ bán hàng online hiệu quả hơn</a:t>
            </a:r>
          </a:p>
          <a:p>
            <a:pPr marL="190510" indent="-190510">
              <a:buFontTx/>
              <a:buChar char="-"/>
            </a:pPr>
            <a:r>
              <a:rPr lang="vi-VN" sz="2800" dirty="0">
                <a:latin typeface="+mj-lt"/>
              </a:rPr>
              <a:t>Giúp người dùng tiết kiệm thời gian mua sắm</a:t>
            </a:r>
          </a:p>
        </p:txBody>
      </p:sp>
    </p:spTree>
    <p:extLst>
      <p:ext uri="{BB962C8B-B14F-4D97-AF65-F5344CB8AC3E}">
        <p14:creationId xmlns:p14="http://schemas.microsoft.com/office/powerpoint/2010/main" val="1061593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0666-D46C-899D-BF05-23856185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D63F61-F986-52B9-1D49-134F23B16776}"/>
              </a:ext>
            </a:extLst>
          </p:cNvPr>
          <p:cNvSpPr txBox="1"/>
          <p:nvPr/>
        </p:nvSpPr>
        <p:spPr>
          <a:xfrm>
            <a:off x="508000" y="330200"/>
            <a:ext cx="660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  <a:latin typeface="+mj-lt"/>
              </a:rPr>
              <a:t>3. Phân tích hệ thống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80930-CA58-B02D-5F93-7F3ADCFF6262}"/>
              </a:ext>
            </a:extLst>
          </p:cNvPr>
          <p:cNvSpPr txBox="1"/>
          <p:nvPr/>
        </p:nvSpPr>
        <p:spPr>
          <a:xfrm>
            <a:off x="812800" y="889000"/>
            <a:ext cx="38608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133" b="1" i="1" dirty="0">
                <a:solidFill>
                  <a:srgbClr val="FF0000"/>
                </a:solidFill>
                <a:latin typeface="+mj-lt"/>
              </a:rPr>
              <a:t>3.1 Các chức năng chính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CEF0E-5618-39B1-51F9-F55923AA2266}"/>
              </a:ext>
            </a:extLst>
          </p:cNvPr>
          <p:cNvSpPr txBox="1"/>
          <p:nvPr/>
        </p:nvSpPr>
        <p:spPr>
          <a:xfrm>
            <a:off x="1016000" y="1447800"/>
            <a:ext cx="9398000" cy="140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0510" indent="-190510">
              <a:buFontTx/>
              <a:buChar char="-"/>
            </a:pPr>
            <a:r>
              <a:rPr lang="vi-VN" sz="2133" dirty="0">
                <a:latin typeface="+mj-lt"/>
              </a:rPr>
              <a:t>Khách hàng: Đăng ký, đăng nhập, thêm sản phẩm vào giỏ hàng, thanh toán</a:t>
            </a:r>
          </a:p>
          <a:p>
            <a:pPr marL="190510" indent="-190510">
              <a:buFontTx/>
              <a:buChar char="-"/>
            </a:pPr>
            <a:r>
              <a:rPr lang="vi-VN" sz="2133" dirty="0">
                <a:latin typeface="+mj-lt"/>
              </a:rPr>
              <a:t>Hệ thống: Kiểm tra tính hợp lệ của dữ liệu, phản hồi thông báo lỗi/thành công.</a:t>
            </a:r>
          </a:p>
          <a:p>
            <a:pPr marL="190510" indent="-190510">
              <a:buFontTx/>
              <a:buChar char="-"/>
            </a:pPr>
            <a:r>
              <a:rPr lang="vi-VN" sz="2133" dirty="0">
                <a:latin typeface="+mj-lt"/>
              </a:rPr>
              <a:t>Phần đăng nhập có kiểm tra xem có trùng với tài khoản và mật khẩu lúc đăng kí hay không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FFA4E-774C-89F9-0FB1-4CB32D971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21" y="3860808"/>
            <a:ext cx="3302000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658DBE-A8A9-7495-D8FE-657D642316B9}"/>
              </a:ext>
            </a:extLst>
          </p:cNvPr>
          <p:cNvSpPr txBox="1"/>
          <p:nvPr/>
        </p:nvSpPr>
        <p:spPr>
          <a:xfrm>
            <a:off x="660400" y="3234075"/>
            <a:ext cx="26416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133" dirty="0">
                <a:latin typeface="+mj-lt"/>
              </a:rPr>
              <a:t>Thông báo nhập sai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FC3A2-C79E-A494-6F51-9D361E63D440}"/>
              </a:ext>
            </a:extLst>
          </p:cNvPr>
          <p:cNvSpPr txBox="1"/>
          <p:nvPr/>
        </p:nvSpPr>
        <p:spPr>
          <a:xfrm>
            <a:off x="4445000" y="3146747"/>
            <a:ext cx="307759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133" dirty="0">
                <a:latin typeface="+mj-lt"/>
              </a:rPr>
              <a:t>Thông báo nhập đúng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26945F-FD98-CBB7-5C0B-270ADEE54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3789244"/>
            <a:ext cx="3302001" cy="2886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1ABC11-137B-C71A-0B2C-359B86D6A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378" y="3802462"/>
            <a:ext cx="3302001" cy="28863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779656-8738-0228-B2C8-A02A473888BD}"/>
              </a:ext>
            </a:extLst>
          </p:cNvPr>
          <p:cNvSpPr txBox="1"/>
          <p:nvPr/>
        </p:nvSpPr>
        <p:spPr>
          <a:xfrm>
            <a:off x="8117840" y="3146747"/>
            <a:ext cx="359742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133" dirty="0">
                <a:latin typeface="+mj-lt"/>
              </a:rPr>
              <a:t>Trùng khớp dữ liệu đăng nhập</a:t>
            </a:r>
          </a:p>
        </p:txBody>
      </p:sp>
    </p:spTree>
    <p:extLst>
      <p:ext uri="{BB962C8B-B14F-4D97-AF65-F5344CB8AC3E}">
        <p14:creationId xmlns:p14="http://schemas.microsoft.com/office/powerpoint/2010/main" val="3470574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91D08F-3DAA-E722-6A1A-A6F8F4F43A60}"/>
              </a:ext>
            </a:extLst>
          </p:cNvPr>
          <p:cNvSpPr txBox="1"/>
          <p:nvPr/>
        </p:nvSpPr>
        <p:spPr>
          <a:xfrm>
            <a:off x="0" y="0"/>
            <a:ext cx="121920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4. Công </a:t>
            </a:r>
            <a:r>
              <a:rPr lang="en-US" sz="40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dụng</a:t>
            </a:r>
          </a:p>
          <a:p>
            <a:endParaRPr lang="en-US" sz="4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AFC0BA-389B-E0A0-6A65-C7CA3F589A96}"/>
              </a:ext>
            </a:extLst>
          </p:cNvPr>
          <p:cNvSpPr/>
          <p:nvPr/>
        </p:nvSpPr>
        <p:spPr>
          <a:xfrm>
            <a:off x="254643" y="1441132"/>
            <a:ext cx="3738623" cy="46703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F147A-BB43-26DF-5780-427B24D91462}"/>
              </a:ext>
            </a:extLst>
          </p:cNvPr>
          <p:cNvSpPr txBox="1"/>
          <p:nvPr/>
        </p:nvSpPr>
        <p:spPr>
          <a:xfrm>
            <a:off x="254644" y="1724628"/>
            <a:ext cx="3993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Ngôn ngữ &amp; nền tảng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3176BE-55D1-CADB-AEE2-6D1BAFC7B655}"/>
              </a:ext>
            </a:extLst>
          </p:cNvPr>
          <p:cNvSpPr/>
          <p:nvPr/>
        </p:nvSpPr>
        <p:spPr>
          <a:xfrm>
            <a:off x="4247909" y="1441130"/>
            <a:ext cx="3738623" cy="46703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F87FCE-6BF4-5483-7C97-A1790B45D2E8}"/>
              </a:ext>
            </a:extLst>
          </p:cNvPr>
          <p:cNvSpPr/>
          <p:nvPr/>
        </p:nvSpPr>
        <p:spPr>
          <a:xfrm>
            <a:off x="8291332" y="1441130"/>
            <a:ext cx="3738623" cy="46703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A26152-E8C2-8281-E0FC-4302D253E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85" y="2319927"/>
            <a:ext cx="2803338" cy="21706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84E4B7-AFC5-5285-B91B-F61B13E1B63F}"/>
              </a:ext>
            </a:extLst>
          </p:cNvPr>
          <p:cNvSpPr txBox="1"/>
          <p:nvPr/>
        </p:nvSpPr>
        <p:spPr>
          <a:xfrm>
            <a:off x="1134319" y="4708968"/>
            <a:ext cx="21528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JavaScript</a:t>
            </a:r>
          </a:p>
          <a:p>
            <a:r>
              <a:rPr lang="en-US" sz="3200"/>
              <a:t>HTML, CSS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EDEAE3-8F7A-D4E8-5836-2A6A2DF6E6FC}"/>
              </a:ext>
            </a:extLst>
          </p:cNvPr>
          <p:cNvSpPr txBox="1"/>
          <p:nvPr/>
        </p:nvSpPr>
        <p:spPr>
          <a:xfrm>
            <a:off x="4467828" y="1724628"/>
            <a:ext cx="3260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Công cụ &amp; Quản lí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B6AC02-7A06-F244-0A82-5266D659A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098" y="2338287"/>
            <a:ext cx="2700243" cy="21706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5C3A57-DBFF-7C31-9602-D1E7B05CE3C3}"/>
              </a:ext>
            </a:extLst>
          </p:cNvPr>
          <p:cNvSpPr txBox="1"/>
          <p:nvPr/>
        </p:nvSpPr>
        <p:spPr>
          <a:xfrm>
            <a:off x="5174241" y="4708968"/>
            <a:ext cx="23608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VS Code</a:t>
            </a:r>
            <a:br>
              <a:rPr lang="en-US" sz="3200"/>
            </a:br>
            <a:r>
              <a:rPr lang="en-US" sz="3200"/>
              <a:t>Git/GitHub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7E0F1E-700A-7232-224C-DE6ACF10F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954" y="2326911"/>
            <a:ext cx="3015555" cy="21706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14CF62B-F827-6888-8D1A-6405C69EFE76}"/>
              </a:ext>
            </a:extLst>
          </p:cNvPr>
          <p:cNvSpPr txBox="1"/>
          <p:nvPr/>
        </p:nvSpPr>
        <p:spPr>
          <a:xfrm>
            <a:off x="9420127" y="4686932"/>
            <a:ext cx="22753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CSS</a:t>
            </a:r>
          </a:p>
          <a:p>
            <a:r>
              <a:rPr lang="en-US" sz="3200"/>
              <a:t>Boostrap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1EE447-F14D-FC9D-A4E2-98F11EE3A20E}"/>
              </a:ext>
            </a:extLst>
          </p:cNvPr>
          <p:cNvSpPr txBox="1"/>
          <p:nvPr/>
        </p:nvSpPr>
        <p:spPr>
          <a:xfrm>
            <a:off x="9090549" y="1724627"/>
            <a:ext cx="2194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Framework</a:t>
            </a:r>
          </a:p>
        </p:txBody>
      </p:sp>
    </p:spTree>
    <p:extLst>
      <p:ext uri="{BB962C8B-B14F-4D97-AF65-F5344CB8AC3E}">
        <p14:creationId xmlns:p14="http://schemas.microsoft.com/office/powerpoint/2010/main" val="3663636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EDF43870-2779-63F8-9ED2-4A8F560FC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26" y="1574400"/>
            <a:ext cx="8109730" cy="42166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5E47A9-6D38-C348-EC49-DA469ABD5F78}"/>
              </a:ext>
            </a:extLst>
          </p:cNvPr>
          <p:cNvSpPr txBox="1"/>
          <p:nvPr/>
        </p:nvSpPr>
        <p:spPr>
          <a:xfrm>
            <a:off x="15758159" y="2926079"/>
            <a:ext cx="11315945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6. Công </a:t>
            </a:r>
            <a:r>
              <a:rPr lang="en-US" sz="40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dụng</a:t>
            </a:r>
          </a:p>
          <a:p>
            <a:endParaRPr lang="en-US" sz="4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946B6C-4D96-7811-E077-09A4A7B16FEA}"/>
              </a:ext>
            </a:extLst>
          </p:cNvPr>
          <p:cNvSpPr/>
          <p:nvPr/>
        </p:nvSpPr>
        <p:spPr>
          <a:xfrm>
            <a:off x="15405386" y="4053776"/>
            <a:ext cx="3469985" cy="27095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D10C3-B850-C493-77F3-3340D2EB6989}"/>
              </a:ext>
            </a:extLst>
          </p:cNvPr>
          <p:cNvSpPr txBox="1"/>
          <p:nvPr/>
        </p:nvSpPr>
        <p:spPr>
          <a:xfrm>
            <a:off x="15423685" y="2622017"/>
            <a:ext cx="37063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Ngôn ngữ &amp; nền tảng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485AF9-8F18-900E-029B-20ED6FA1463D}"/>
              </a:ext>
            </a:extLst>
          </p:cNvPr>
          <p:cNvSpPr/>
          <p:nvPr/>
        </p:nvSpPr>
        <p:spPr>
          <a:xfrm>
            <a:off x="19398652" y="4053774"/>
            <a:ext cx="3469985" cy="27095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D7D70E-CC58-827C-FEA3-F6A6182007DF}"/>
              </a:ext>
            </a:extLst>
          </p:cNvPr>
          <p:cNvSpPr/>
          <p:nvPr/>
        </p:nvSpPr>
        <p:spPr>
          <a:xfrm>
            <a:off x="23442075" y="4053774"/>
            <a:ext cx="3469985" cy="27095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20C830-90C3-2AD9-2299-96460B4C3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5824" y="3127780"/>
            <a:ext cx="2601904" cy="20147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EFA316-BC98-6A6C-CBD9-AB15180C0BE6}"/>
              </a:ext>
            </a:extLst>
          </p:cNvPr>
          <p:cNvSpPr txBox="1"/>
          <p:nvPr/>
        </p:nvSpPr>
        <p:spPr>
          <a:xfrm>
            <a:off x="16171120" y="5813103"/>
            <a:ext cx="19981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JavaScript</a:t>
            </a:r>
          </a:p>
          <a:p>
            <a:r>
              <a:rPr lang="en-US" sz="3200"/>
              <a:t>HTML, CSS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750C7-B2F9-8B4B-6970-4E69696ED5B5}"/>
              </a:ext>
            </a:extLst>
          </p:cNvPr>
          <p:cNvSpPr txBox="1"/>
          <p:nvPr/>
        </p:nvSpPr>
        <p:spPr>
          <a:xfrm>
            <a:off x="19584203" y="2622017"/>
            <a:ext cx="30260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Công cụ &amp; Quản lí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9A427-28CA-531B-8EB0-EAD2A60A5D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3229" y="3146140"/>
            <a:ext cx="2506217" cy="20147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E49A88-FB48-F0C8-A0C5-3C6C081804E6}"/>
              </a:ext>
            </a:extLst>
          </p:cNvPr>
          <p:cNvSpPr txBox="1"/>
          <p:nvPr/>
        </p:nvSpPr>
        <p:spPr>
          <a:xfrm>
            <a:off x="20225986" y="5813103"/>
            <a:ext cx="21912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VS Code</a:t>
            </a:r>
            <a:br>
              <a:rPr lang="en-US" sz="3200"/>
            </a:br>
            <a:r>
              <a:rPr lang="en-US" sz="3200"/>
              <a:t>Git/GitHub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B205ED-CB2E-02B8-E8E3-AB65723760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8741" y="3134764"/>
            <a:ext cx="2798873" cy="20147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8CC324-D0F9-DF01-BA1E-8E8B9484D0A2}"/>
              </a:ext>
            </a:extLst>
          </p:cNvPr>
          <p:cNvSpPr txBox="1"/>
          <p:nvPr/>
        </p:nvSpPr>
        <p:spPr>
          <a:xfrm>
            <a:off x="24465728" y="5791067"/>
            <a:ext cx="21118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/>
              <a:t>CSS</a:t>
            </a:r>
          </a:p>
          <a:p>
            <a:r>
              <a:rPr lang="en-US" sz="3200"/>
              <a:t>Boostrap 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544E1E-EAA3-1268-A2E6-DF887C151003}"/>
              </a:ext>
            </a:extLst>
          </p:cNvPr>
          <p:cNvSpPr txBox="1"/>
          <p:nvPr/>
        </p:nvSpPr>
        <p:spPr>
          <a:xfrm>
            <a:off x="24130330" y="2622016"/>
            <a:ext cx="20366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/>
              <a:t>Framework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6C2773-FA35-DBCA-DEBA-8860CF048FDC}"/>
              </a:ext>
            </a:extLst>
          </p:cNvPr>
          <p:cNvSpPr txBox="1"/>
          <p:nvPr/>
        </p:nvSpPr>
        <p:spPr>
          <a:xfrm>
            <a:off x="0" y="0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5. Chức năng chính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78FEB4-50A1-B02D-6B94-D3C78050E065}"/>
              </a:ext>
            </a:extLst>
          </p:cNvPr>
          <p:cNvSpPr txBox="1"/>
          <p:nvPr/>
        </p:nvSpPr>
        <p:spPr>
          <a:xfrm>
            <a:off x="8413889" y="1466806"/>
            <a:ext cx="353910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Duyệt sản phẩm:</a:t>
            </a:r>
            <a:r>
              <a:rPr lang="en-US" sz="2400"/>
              <a:t> </a:t>
            </a:r>
          </a:p>
          <a:p>
            <a:r>
              <a:rPr lang="en-US" sz="2400"/>
              <a:t>Hiển thị danh mục Bút, Sổ, Dụng cụ học tập trực quan.</a:t>
            </a:r>
          </a:p>
          <a:p>
            <a:endParaRPr lang="en-US" sz="2300">
              <a:latin typeface="+mj-lt"/>
            </a:endParaRPr>
          </a:p>
          <a:p>
            <a:r>
              <a:rPr lang="en-US" sz="2400" b="1"/>
              <a:t>Bộ lọc thông minh:</a:t>
            </a:r>
            <a:r>
              <a:rPr lang="en-US" sz="2400"/>
              <a:t> </a:t>
            </a:r>
          </a:p>
          <a:p>
            <a:r>
              <a:rPr lang="en-US" sz="2400"/>
              <a:t>Tìm kiếm và phân loại sản phẩm theo danh mục cực nhanh.</a:t>
            </a:r>
          </a:p>
          <a:p>
            <a:endParaRPr lang="en-US" sz="2300">
              <a:latin typeface="+mj-lt"/>
            </a:endParaRPr>
          </a:p>
          <a:p>
            <a:r>
              <a:rPr lang="en-US" sz="2400" b="1"/>
              <a:t>Chi tiết sản phẩm:</a:t>
            </a:r>
            <a:r>
              <a:rPr lang="en-US" sz="2400"/>
              <a:t> </a:t>
            </a:r>
          </a:p>
          <a:p>
            <a:r>
              <a:rPr lang="en-US" sz="2400"/>
              <a:t>Hiển thị đầy đủ thông số, giá cả và hình ảnh sắc nét.</a:t>
            </a:r>
            <a:endParaRPr lang="en-US" sz="23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15986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2C7FAAD-158C-FD7A-B3E4-C0054B51A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63927" y="1468246"/>
            <a:ext cx="8109730" cy="42166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B053D78-6C11-36D7-316E-A587F94ADF0E}"/>
              </a:ext>
            </a:extLst>
          </p:cNvPr>
          <p:cNvSpPr txBox="1"/>
          <p:nvPr/>
        </p:nvSpPr>
        <p:spPr>
          <a:xfrm>
            <a:off x="-255376" y="-5029200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5. Chức năng chính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9D4600-968C-AB14-F352-B7F5FDC8ED8A}"/>
              </a:ext>
            </a:extLst>
          </p:cNvPr>
          <p:cNvSpPr txBox="1"/>
          <p:nvPr/>
        </p:nvSpPr>
        <p:spPr>
          <a:xfrm>
            <a:off x="8397521" y="7792320"/>
            <a:ext cx="3539103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vi-VN" sz="2300">
                <a:latin typeface="+mj-lt"/>
              </a:rPr>
              <a:t>Hiển thị danh sách sản phẩm văn phòng phẩm (bút, thước...) trực quan theo thẻ (Card).</a:t>
            </a:r>
            <a:endParaRPr lang="en-US" sz="2300">
              <a:latin typeface="+mj-lt"/>
            </a:endParaRPr>
          </a:p>
          <a:p>
            <a:pPr marL="285750" indent="-285750">
              <a:buFontTx/>
              <a:buChar char="-"/>
            </a:pPr>
            <a:endParaRPr lang="en-US" sz="2300"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vi-VN" sz="2300">
                <a:latin typeface="+mj-lt"/>
              </a:rPr>
              <a:t>Cho phép người dùng tìm nhanh</a:t>
            </a:r>
            <a:r>
              <a:rPr lang="en-US" sz="2300">
                <a:latin typeface="+mj-lt"/>
              </a:rPr>
              <a:t> </a:t>
            </a:r>
            <a:r>
              <a:rPr 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sản phẩm</a:t>
            </a:r>
            <a:r>
              <a:rPr lang="vi-V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300">
                <a:latin typeface="+mj-lt"/>
              </a:rPr>
              <a:t>theo tên hoặc phân loại.</a:t>
            </a:r>
            <a:endParaRPr lang="en-US" sz="2300">
              <a:latin typeface="+mj-lt"/>
            </a:endParaRPr>
          </a:p>
          <a:p>
            <a:pPr marL="285750" indent="-285750">
              <a:buFontTx/>
              <a:buChar char="-"/>
            </a:pPr>
            <a:endParaRPr lang="en-US" sz="2300"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vi-VN" sz="2300">
                <a:latin typeface="+mj-lt"/>
              </a:rPr>
              <a:t>Hiển thị thông số, giá tiền và số lượng đã bán của từng loại văn phòng phẩm.</a:t>
            </a:r>
            <a:endParaRPr lang="en-US" sz="230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A56369-2795-DF89-D347-0D2DBDF53469}"/>
              </a:ext>
            </a:extLst>
          </p:cNvPr>
          <p:cNvSpPr txBox="1"/>
          <p:nvPr/>
        </p:nvSpPr>
        <p:spPr>
          <a:xfrm>
            <a:off x="0" y="119676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6. Kết quả đạt được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3A6122-C8D8-FAB4-D9FD-9C64821B1E4C}"/>
              </a:ext>
            </a:extLst>
          </p:cNvPr>
          <p:cNvSpPr txBox="1"/>
          <p:nvPr/>
        </p:nvSpPr>
        <p:spPr>
          <a:xfrm>
            <a:off x="106680" y="1468246"/>
            <a:ext cx="1182994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Giao diện mua sắm trực quan:	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dễ dàng bao quát toàn bộ danh mục văn phòng phẩm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(Bút, Sổ, Túi...) ngay từ trang chủ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Hình ảnh sản phẩm lớn, rõ nét, đi kèm đầy đủ thông tin giá cả và số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lượng đã bán giúp khách hàng ra quyết định mua nhanh hơn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Tính tương thích cao: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có thể lướt xem và chọn đồ văn phòng phẩm thoải mái trên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cả máy tính xách tay lẫn máy tính bảng mà giao diện vẫn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đẹp,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không bị vỡ hay khó đọc.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263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E4D4DB-F471-FEB9-23C2-6B3C2F0A7449}"/>
              </a:ext>
            </a:extLst>
          </p:cNvPr>
          <p:cNvSpPr txBox="1"/>
          <p:nvPr/>
        </p:nvSpPr>
        <p:spPr>
          <a:xfrm>
            <a:off x="0" y="119676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6. Kết quả đạt được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5C1C1-2095-C9D0-D55C-594A0143F103}"/>
              </a:ext>
            </a:extLst>
          </p:cNvPr>
          <p:cNvSpPr txBox="1"/>
          <p:nvPr/>
        </p:nvSpPr>
        <p:spPr>
          <a:xfrm>
            <a:off x="14767560" y="1381560"/>
            <a:ext cx="1182994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Giao diện mua sắm trực quan:	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dễ dàng bao quát toàn bộ danh mục văn phòng phẩm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(Bút, Sổ, Túi...) ngay từ trang chủ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Hình ảnh sản phẩm lớn, rõ nét, đi kèm đầy đủ thông tin giá cả và số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lượng đã bán giúp khách hàng ra quyết định mua nhanh hơn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Tính tương thích cao: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Người dùng có thể lướt xem và chọn đồ văn phòng phẩm thoải mái trên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cả máy tính xách tay lẫn máy tính bảng mà giao diện vẫn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đẹp,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không bị vỡ hay khó đọc.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670083-9035-27FE-0C5D-5C505A889760}"/>
              </a:ext>
            </a:extLst>
          </p:cNvPr>
          <p:cNvSpPr txBox="1"/>
          <p:nvPr/>
        </p:nvSpPr>
        <p:spPr>
          <a:xfrm>
            <a:off x="0" y="1381560"/>
            <a:ext cx="1022252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Luồng tìm kiếm &amp; Lọc sản phẩm:</a:t>
            </a: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Tốc độ phản hồi cực nhanh khi người dùng tìm kiếm hoặc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lọc theo loại hàng. Khách hàng không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phải chờ đợi load trang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lâu, tạo cảm giác mượt mà khi mua sắm.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Quy trình chọn hàng đơn giản: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Trang chi tiết sản phẩm trình bày thông số (loại mực, kích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thước, chất liệu...) rõ ràng, giúp người dùng yên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âm về chất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lượng trước khi bấm mua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608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F789D8-2262-B67A-4DB3-00E9319810CA}"/>
              </a:ext>
            </a:extLst>
          </p:cNvPr>
          <p:cNvSpPr txBox="1"/>
          <p:nvPr/>
        </p:nvSpPr>
        <p:spPr>
          <a:xfrm>
            <a:off x="0" y="119676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7. Hạn chế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28DAD-5A2F-4E7C-20A9-0B8D38A8A8A4}"/>
              </a:ext>
            </a:extLst>
          </p:cNvPr>
          <p:cNvSpPr txBox="1"/>
          <p:nvPr/>
        </p:nvSpPr>
        <p:spPr>
          <a:xfrm>
            <a:off x="-396240" y="7929480"/>
            <a:ext cx="1022252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Luồng tìm kiếm &amp; Lọc sản phẩm:</a:t>
            </a: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Tốc độ phản hồi cực nhanh khi người dùng tìm kiếm hoặc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lọc theo loại hàng. Khách hàng không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phải chờ đợi load trang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lâu, tạo cảm giác mượt mà khi mua sắm.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Quy trình chọn hàng đơn giản: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Trang chi tiết sản phẩm trình bày thông số (loại mực, kích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thước, chất liệu...) rõ ràng, giúp người dùng yên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âm về chất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lượng trước khi bấm mua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2A4C1-0962-E4BE-F46D-0905DE23BDE9}"/>
              </a:ext>
            </a:extLst>
          </p:cNvPr>
          <p:cNvSpPr txBox="1"/>
          <p:nvPr/>
        </p:nvSpPr>
        <p:spPr>
          <a:xfrm>
            <a:off x="152400" y="1676400"/>
            <a:ext cx="1178052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Tương tác hai chiều: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chưa thể để lại đánh giá (Review), bình luận hoặc chấm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điểm sao cho sản phẩm. Điều này làm giảm tính khách quan khi mua sắm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văn phòng phẩm online.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Thông tin trạng thái kho hàng: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chưa biết được số lượng sản phẩm chính xác còn lại trong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kho theo thời gian thực. Điều này có thể dẫn đến việc người dùng chọn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mua nhưng thực tế sản phẩm đã hết hàn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</a:p>
        </p:txBody>
      </p:sp>
    </p:spTree>
    <p:extLst>
      <p:ext uri="{BB962C8B-B14F-4D97-AF65-F5344CB8AC3E}">
        <p14:creationId xmlns:p14="http://schemas.microsoft.com/office/powerpoint/2010/main" val="747781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CEC54E-04FF-9304-6BE0-8FFEE83930CC}"/>
              </a:ext>
            </a:extLst>
          </p:cNvPr>
          <p:cNvSpPr txBox="1"/>
          <p:nvPr/>
        </p:nvSpPr>
        <p:spPr>
          <a:xfrm>
            <a:off x="0" y="-6799284"/>
            <a:ext cx="12192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7. Hạn chế</a:t>
            </a:r>
            <a:endParaRPr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C74CE-984B-08A7-5E9F-FE4A85D6A882}"/>
              </a:ext>
            </a:extLst>
          </p:cNvPr>
          <p:cNvSpPr txBox="1"/>
          <p:nvPr/>
        </p:nvSpPr>
        <p:spPr>
          <a:xfrm>
            <a:off x="152400" y="-5242560"/>
            <a:ext cx="1178052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Tương tác hai chiều: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chưa thể để lại đánh giá (Review), bình luận hoặc chấm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điểm sao cho sản phẩm. Điều này làm giảm tính khách quan khi mua sắm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văn phòng phẩm online.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Thông tin trạng thái kho hàng: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chưa biết được số lượng sản phẩm chính xác còn lại trong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kho theo thời gian thực. Điều này có thể dẫn đến việc người dùng chọn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mua nhưng thực tế sản phẩm đã hết hàn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FF69A-F060-E07A-4BD5-4CA0E6F18477}"/>
              </a:ext>
            </a:extLst>
          </p:cNvPr>
          <p:cNvSpPr txBox="1"/>
          <p:nvPr/>
        </p:nvSpPr>
        <p:spPr>
          <a:xfrm>
            <a:off x="1736202" y="1358168"/>
            <a:ext cx="96417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8. Kết luận &amp;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731767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1C41F-D07B-4765-488E-C92403233207}"/>
              </a:ext>
            </a:extLst>
          </p:cNvPr>
          <p:cNvSpPr txBox="1"/>
          <p:nvPr/>
        </p:nvSpPr>
        <p:spPr>
          <a:xfrm>
            <a:off x="-403185" y="680977"/>
            <a:ext cx="1178052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</a:p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Trải nghiệm mua sắm hiện đại: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Đã hiện thực hóa một "Cửa hàng văn phòng phẩm số" với giao diện trực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quan, giúp người dùng cuối dễ dàng tiếp cận và lựa chọn sản phẩm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Tối ưu hóa thao tác: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Luồng tìm kiếm, lọc và xem chi tiết sản phẩm được tinh chỉnh để giảm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thiểu thời gian chờ đợi, mang lại cảm giác mượt mà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860C7-2798-7FE3-F18A-246E32FC97F8}"/>
              </a:ext>
            </a:extLst>
          </p:cNvPr>
          <p:cNvSpPr txBox="1"/>
          <p:nvPr/>
        </p:nvSpPr>
        <p:spPr>
          <a:xfrm>
            <a:off x="-10334709" y="-288519"/>
            <a:ext cx="96417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8. Kết luận &amp;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2661531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E9E121-F472-1517-C66E-9B8D486225B3}"/>
              </a:ext>
            </a:extLst>
          </p:cNvPr>
          <p:cNvSpPr txBox="1"/>
          <p:nvPr/>
        </p:nvSpPr>
        <p:spPr>
          <a:xfrm>
            <a:off x="205740" y="7583524"/>
            <a:ext cx="1178052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</a:p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Trải nghiệm mua sắm hiện đại: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Đã hiện thực hóa một "Cửa hàng văn phòng phẩm số" với giao diện trực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quan, giúp người dùng cuối dễ dàng tiếp cận và lựa chọn sản phẩm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Tối ưu hóa thao tác: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Luồng tìm kiếm, lọc và xem chi tiết sản phẩm được tinh chỉnh để giảm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thiểu thời gian chờ đợi, mang lại cảm giác mượt mà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4E4C7-2229-BA09-1383-21267370A832}"/>
              </a:ext>
            </a:extLst>
          </p:cNvPr>
          <p:cNvSpPr txBox="1"/>
          <p:nvPr/>
        </p:nvSpPr>
        <p:spPr>
          <a:xfrm>
            <a:off x="-1" y="680977"/>
            <a:ext cx="1219200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</a:p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/>
              <a:t>Số hóa toàn diện: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Kết nối với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để triển khai hệ thống tài khoản, giúp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 lưu trữ giỏ hàng, lịch sử mua sắm và nhận ưu đãi cá nhân.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/>
              <a:t>Hệ thống quản trị: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trang quản lý kho hàng thông minh, tự động cập nhật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rạng thái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"Còn hàng/Hết hàng" theo thời gian thực để thông tin đến người dùng luôn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chính xác.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906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E384F9-0DFD-98CF-B59D-6BA0977D62D3}"/>
              </a:ext>
            </a:extLst>
          </p:cNvPr>
          <p:cNvSpPr txBox="1"/>
          <p:nvPr/>
        </p:nvSpPr>
        <p:spPr>
          <a:xfrm>
            <a:off x="-1" y="680977"/>
            <a:ext cx="121920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</a:t>
            </a:r>
          </a:p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Cá nhân hóa trải nghiệm: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gợi ý sản phẩm liên quan (Ví dụ: Mua sổ tay gợi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 mua bút/thước đi kèm) nhằm tăng giá trị đơn hàng và sự hài lòng của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khách hàng.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/>
          </a:p>
          <a:p>
            <a:r>
              <a:rPr lang="en-US" sz="2800"/>
              <a:t>	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Thanh toán một chạm: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/>
              <a:t>	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- Tích hợp các cổng thanh toán điện tử (MoMo, VNPAY, ZaloPay) để hoàn 	thiện chu trình mua hàng từ A-Z ngay trên website.</a:t>
            </a:r>
            <a:br>
              <a:rPr lang="en-US" sz="2800"/>
            </a:b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243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 descr="White text on a black background  AI-generated content may be incorrect."/>
          <p:cNvSpPr/>
          <p:nvPr/>
        </p:nvSpPr>
        <p:spPr>
          <a:xfrm>
            <a:off x="444138" y="333337"/>
            <a:ext cx="3301391" cy="940771"/>
          </a:xfrm>
          <a:custGeom>
            <a:avLst/>
            <a:gdLst/>
            <a:ahLst/>
            <a:cxnLst/>
            <a:rect l="l" t="t" r="r" b="b"/>
            <a:pathLst>
              <a:path w="4952086" h="1411157">
                <a:moveTo>
                  <a:pt x="0" y="0"/>
                </a:moveTo>
                <a:lnTo>
                  <a:pt x="4952086" y="0"/>
                </a:lnTo>
                <a:lnTo>
                  <a:pt x="4952086" y="1411158"/>
                </a:lnTo>
                <a:lnTo>
                  <a:pt x="0" y="1411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" b="-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7" name="TextBox 7"/>
          <p:cNvSpPr txBox="1"/>
          <p:nvPr/>
        </p:nvSpPr>
        <p:spPr>
          <a:xfrm>
            <a:off x="2299354" y="3009878"/>
            <a:ext cx="9144000" cy="83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60"/>
              </a:lnSpc>
              <a:spcBef>
                <a:spcPct val="0"/>
              </a:spcBef>
            </a:pPr>
            <a:r>
              <a:rPr lang="en-US" sz="9600" b="1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1589</Words>
  <Application>Microsoft Office PowerPoint</Application>
  <PresentationFormat>Widescreen</PresentationFormat>
  <Paragraphs>210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Bai Jamjuree Bold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Triệu Vĩ</dc:creator>
  <cp:lastModifiedBy>Lê Nguyễn</cp:lastModifiedBy>
  <cp:revision>3</cp:revision>
  <dcterms:created xsi:type="dcterms:W3CDTF">2026-04-02T03:55:28Z</dcterms:created>
  <dcterms:modified xsi:type="dcterms:W3CDTF">2026-04-07T14:42:11Z</dcterms:modified>
</cp:coreProperties>
</file>